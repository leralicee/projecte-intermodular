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63" r:id="rId15"/>
    <p:sldId id="259" r:id="rId11"/>
    <p:sldId id="260" r:id="rId12"/>
    <p:sldId id="261" r:id="rId13"/>
    <p:sldId id="262" r:id="rId14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0:00 - 0:45  OBERTURA</a:t>
            </a:r>
          </a:p>
          <a:p/>
          <a:p>
            <a:r>
              <a:t>El joc ja ha d'estar obert al Camp Base DARRERE d'aquesta diapositiva.</a:t>
            </a:r>
          </a:p>
          <a:p/>
          <a:p>
            <a:r>
              <a:t>"Aixo es L'Excursio del Puig de les Bruixes, una aventura conversacional feta en Java. El protagonista es despista del grup fent una foto, baixa la boira i es perd. Ha de tornar al bus abans de les sis."</a:t>
            </a:r>
          </a:p>
          <a:p/>
          <a:p>
            <a:r>
              <a:t>-&gt; Canvia al joc i escriu: nord</a:t>
            </a:r>
          </a:p>
          <a:p/>
          <a:p>
            <a:r>
              <a:t>"Cada zona te la seva il.lustracio, i a dalt a l'esquerra hi ha l'hora. El bus marxa a les sis en punt i cada ordre gasta dos minuts: hi ha seixanta torns per tornar."</a:t>
            </a:r>
          </a:p>
          <a:p/>
          <a:p>
            <a:r>
              <a:t>-&gt; Torna aqui i passa a la seguent.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0:45 - 1:30  L'ENUNCIAT</a:t>
            </a:r>
          </a:p>
          <a:p/>
          <a:p>
            <a:r>
              <a:t>"L'enunciat demanava deu zones, inventari, com a minim sis objectes, un personatge amb qui parlar i que el joc tingues final. Tot aixo hi es."</a:t>
            </a:r>
          </a:p>
          <a:p/>
          <a:p>
            <a:r>
              <a:t>"Pero hi havia una frase que condicionava tot el disseny: el joc ha d'entendre els seguents texts. No botons: textos."</a:t>
            </a:r>
          </a:p>
          <a:p/>
          <a:p>
            <a:r>
              <a:t>"Per aixo el joc te un analitzador d'ordres de debo. I els botons de les sortides, i els dibuixos dels objectes, no son un cami alternatiu: escriuen la mateixa ordre i la fan passar pel mateix analitzador. Son una drecera, no un motor diferent."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1:30 - 2:30  EL MAPA</a:t>
            </a:r>
          </a:p>
          <a:p/>
          <a:p>
            <a:r>
              <a:t>"Aquest es el mapa. Deu zones, i no totes tenen les mateixes sortides: el Camp Base en te una i la Cova Fosca en te quatre. Les linies taronges son passos condicionats."</a:t>
            </a:r>
          </a:p>
          <a:p/>
          <a:p>
            <a:r>
              <a:t>-&gt; Ve assenyalant amb el cursor mentre ho expliques.</a:t>
            </a:r>
          </a:p>
          <a:p/>
          <a:p>
            <a:r>
              <a:t>"Per travessar el pont cal reparar-lo amb una corda. La corda es dins un cofre que nomes s'obre amb una navalla. I la navalla es en una cova fosca on no s'hi veu res sense la llanterna."</a:t>
            </a:r>
          </a:p>
          <a:p/>
          <a:p>
            <a:r>
              <a:t>"O sigui: llanterna, navalla, cofre, corda, pont. L'ordre no es casualitat, esta forcat pel disseny. I al final hi ha en Tomeu, l'ermita, que et dona el mapa de baixada si li ofereixes alguna cosa."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4:45 - 5:05  ARQUITECTURA, VISTA GENERAL</a:t>
            </a:r>
          </a:p>
          <a:p/>
          <a:p>
            <a:r>
              <a:t>"Trenta-sis classes repartides en quatre paquets: model es l'estat del mon, control executa les ordres, vista ho ensenya i excepcions son els errors propis. Vull destacar-ne tres decisions."</a:t>
            </a:r>
          </a:p>
          <a:p/>
          <a:p>
            <a:r>
              <a:t>Si et pregunten per la vista: VistaConsola i VistaGrafica implementen la mateixa interficie Vista, i el Main tria quina fa servir.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5:05 - 5:55  DECISIO 1</a:t>
            </a:r>
          </a:p>
          <a:p/>
          <a:p>
            <a:r>
              <a:t>"Tot amb que es pot interactuar hereta d'Element, que es abstracta: d'ella pengen Objecte, Contenidor i Personatge."</a:t>
            </a:r>
          </a:p>
          <a:p/>
          <a:p>
            <a:r>
              <a:t>"A sobre hi ha dues interficies: Encenible, que implementa la llanterna, i Usable, que implementen els objectes. Van ser interficies i no classes perque una llanterna ja es un objecte i no pot heretar dues vegades. Es el cas tipic on calen interficies."</a:t>
            </a:r>
          </a:p>
          <a:p/>
          <a:p>
            <a:r>
              <a:t>"Gracies a aixo, quan el jugador escriu una ordre el motor no pregunta de quin tipus es cada cosa: li demana a l'element que reaccioni, i cada classe sap que fer."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5:55 - 6:35  DECISIO 2</a:t>
            </a:r>
          </a:p>
          <a:p/>
          <a:p>
            <a:r>
              <a:t>"Els verbs son un enum, no textos solts: el switch del motor treballa sobre casos tancats i no hi ha cap verb escrit a ma enmig del codi."</a:t>
            </a:r>
          </a:p>
          <a:p/>
          <a:p>
            <a:r>
              <a:t>"I tot entra per un sol lloc. A la finestra hi ha un metode enviar que es l'unic cami: el camp de text, els botons de dalt, els botons de sortida i el menu dels dibuixos hi acaben tots. Tot es converteix en text i passa per l'analitzador."</a:t>
            </a:r>
          </a:p>
          <a:p/>
          <a:p>
            <a:r>
              <a:t>"Per aixo els botons de sortida no estan escrits a ma: es generen recorrent les connexions visibles de la zona, amb la fletxa segons la direccio. Si canvio el mapa, els botons canvien sols."</a:t>
            </a:r>
          </a:p>
          <a:p/>
          <a:p>
            <a:r>
              <a:t>SI VAS TARD, AQUESTA ES LA QUE ES POT RESUMIR EN DUES FRASES.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6:35 - 7:30  DECISIO 3</a:t>
            </a:r>
          </a:p>
          <a:p/>
          <a:p>
            <a:r>
              <a:t>"La tercera respon a una competencia que demanava l'enunciat: la gestio d'errors amb excepcions."</a:t>
            </a:r>
          </a:p>
          <a:p/>
          <a:p>
            <a:r>
              <a:t>"Hi ha una classe JocException abstracta i quatre filles. Cadascuna guarda dos missatges: el tecnic, per depurar, i el que veu el jugador. Al jugador no li dius element inexistent, li dius aqui no veig cap navalla."</a:t>
            </a:r>
          </a:p>
          <a:p/>
          <a:p>
            <a:r>
              <a:t>"I com que totes hereten de la mateixa, el bucle del joc les enganxa totes amb un sol catch."</a:t>
            </a:r>
          </a:p>
          <a:p/>
          <a:p>
            <a:r>
              <a:t>A LES 7:30 HAS DE PASSAR AL TESTING. Aquesta diapositiva no es toca.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2:30 - 4:45  DEMOSTRACIO</a:t>
            </a:r>
          </a:p>
          <a:p/>
          <a:p>
            <a:r>
              <a:t>PRIMER CANVI DE FINESTRA: entres al joc. En sortir, el segon i ultim.</a:t>
            </a:r>
          </a:p>
          <a:p/>
          <a:p>
            <a:r>
              <a:t>agafar cantimplora -&gt; "Agafar objectes. Fixeu-vos que desapareix del dibuix de sota: alla hi ha el que hi ha a la zona."</a:t>
            </a:r>
          </a:p>
          <a:p>
            <a:r>
              <a:t>nord</a:t>
            </a:r>
          </a:p>
          <a:p>
            <a:r>
              <a:t>agafar basto</a:t>
            </a:r>
          </a:p>
          <a:p>
            <a:r>
              <a:t>usar el basto amb el pomer -&gt; "Aqui combino dos objectes: pico la branca amb el basto i cau la poma."</a:t>
            </a:r>
          </a:p>
          <a:p>
            <a:r>
              <a:t>agafar poma</a:t>
            </a:r>
          </a:p>
          <a:p>
            <a:r>
              <a:t>nord -&gt; zona del senglar, atencio a l'avis</a:t>
            </a:r>
          </a:p>
          <a:p>
            <a:r>
              <a:t>obrir tronc -&gt; "Un contenidor. En obrir-lo, la llanterna que hi havia dins passa a la zona i ja la puc agafar."</a:t>
            </a:r>
          </a:p>
          <a:p>
            <a:r>
              <a:t>agafar llanterna</a:t>
            </a:r>
          </a:p>
          <a:p>
            <a:r>
              <a:t>encendre llanterna -&gt; "Te estat, i te pila: nomes es gasta mentre esta encesa, per aixo val la pena apagar-la."</a:t>
            </a:r>
          </a:p>
          <a:p>
            <a:r>
              <a:t>nord -&gt; "I aixo es la Cova Fosca sense llum. El text diu que no s'hi veu res, i la imatge tambe."</a:t>
            </a:r>
          </a:p>
          <a:p/>
          <a:p>
            <a:r>
              <a:t>SI SOBREN SEGONS, UNA de les dues: escriure "agafar la lanterna" amb errada perque surti Volies dir llanterna?, o clicar un dibuix i triar del menu.</a:t>
            </a:r>
          </a:p>
          <a:p/>
          <a:p>
            <a:r>
              <a:t>SI SURT L'AVIS DEL SENGLAR: el seguent que escrius es usar la poma amb el senglar, sense excepcions. Explica-ho com si estigues previst: el senglar es mou sol cada dos torns i et dona un torn per reaccionar.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7:30 - 8:15  COM S'HA TREBALLAT</a:t>
            </a:r>
          </a:p>
          <a:p/>
          <a:p>
            <a:r>
              <a:t>"L'he fet per capes, i cada commit compila sol: primer les excepcions i els verbs, despres el model, l'analitzador, el motor, i l'ultima capa la interficie. Per aixo el joc no es podia executar fins al final: el punt d'entrada es l'ultim que te sentit escriure."</a:t>
            </a:r>
          </a:p>
          <a:p/>
          <a:p>
            <a:r>
              <a:t>"I una cosa que va ser la mes util de tot. Vaig fer un script que juga partides senceres sol. Executant-ne vint vaig descobrir que es podia guanyar en setze ordres, saltant-se la llanterna, la navalla, el cofre, la corda i el pont: hi havia un cami que no havia previst."</a:t>
            </a:r>
          </a:p>
          <a:p/>
          <a:p>
            <a:r>
              <a:t>"Ho vaig tancar. Ara aquesta drecera guanya zero vegades de vint, i el recorregut bo en guanya vint de vint."</a:t>
            </a:r>
          </a:p>
          <a:p/>
          <a:p>
            <a:r>
              <a:t>AQUEST ES EL MILLOR MOMENT DE LA PRESENTACIO. No corris.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8:15 - 8:45  TANCAMENT</a:t>
            </a:r>
          </a:p>
          <a:p/>
          <a:p>
            <a:r>
              <a:t>"Em queda pendent una galeria per a les fotos que es poden fer durant la partida, i opcions de dialeg amb en Tomeu que canviin el final."</a:t>
            </a:r>
          </a:p>
          <a:p/>
          <a:p>
            <a:r>
              <a:t>"Pero els minims hi son tots, el joc es pot acabar de quatre maneres diferents i es pot tornar a jugar. Gracies."</a:t>
            </a:r>
          </a:p>
          <a:p/>
          <a:p>
            <a:r>
              <a:t>PREGUNTES PROBABLES:</a:t>
            </a:r>
          </a:p>
          <a:p>
            <a:r>
              <a:t>1. Si JocException no fos abstracta, quin problema tindries? -&gt; Es podria instanciar una excepcio generica sense dir quin error es; obliga a triar una filla concreta.</a:t>
            </a:r>
          </a:p>
          <a:p>
            <a:r>
              <a:t>2. Per que una ordre erronia no gasta temps? -&gt; El rellotge nomes avanca si el ResultatAccio diu que consumeix temps; les excepcions no en consumeixen.</a:t>
            </a:r>
          </a:p>
          <a:p>
            <a:r>
              <a:t>3. Si afegeixes el verb OLORAR, quins fitxers toques? -&gt; Verb, els sinonims de AnalitzadorOrdres i el switch de MotorDeJoc.</a:t>
            </a:r>
          </a:p>
          <a:p>
            <a:r>
              <a:t>4. Per que Encenible es interficie? -&gt; Perque Llanterna ja hereta d'Objecte i Java no te herencia multiple.</a:t>
            </a:r>
          </a:p>
          <a:p>
            <a:r>
              <a:t>5. Per que Zona.imatges es un array i Zona.elements un ArrayList? -&gt; Les imatges son tres sempre, una per fase del dia, i van indexades; els elements entren i surten durant la partida.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t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71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8FB08A"/>
                </a:solidFill>
                <a:latin typeface="Segoe UI"/>
              </a:rPr>
              <a:t>MP13 · MÒDUL DUAL · P000 · HISTÒRIA CONVERSACIONAL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9E6DF"/>
                </a:solidFill>
                <a:latin typeface="Georgia"/>
              </a:rPr>
              <a:t>L'Excursió del Puig
de les Bruixes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015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A9EAE"/>
                </a:solidFill>
                <a:latin typeface="Segoe UI"/>
              </a:rPr>
              <a:t>Una aventura conversacional escrita en Java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96112" y="3977639"/>
            <a:ext cx="1207008" cy="0"/>
          </a:xfrm>
          <a:prstGeom prst="line">
            <a:avLst/>
          </a:prstGeom>
          <a:ln w="31750">
            <a:solidFill>
              <a:srgbClr val="E8A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4160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E6DF"/>
                </a:solidFill>
                <a:latin typeface="Segoe UI"/>
              </a:rPr>
              <a:t>Paula · DAM2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Què demanava l'enunciat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27632"/>
            <a:ext cx="5257800" cy="448056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8FB08A"/>
                </a:solidFill>
                <a:latin typeface="Segoe UI"/>
              </a:rPr>
              <a:t>ELS MÍNIMS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FB08A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2860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E6DF"/>
                </a:solidFill>
                <a:latin typeface="Segoe UI"/>
              </a:rPr>
              <a:t>10 zones connectades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5328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n'hi ha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FB08A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90779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E6DF"/>
                </a:solidFill>
                <a:latin typeface="Segoe UI"/>
              </a:rPr>
              <a:t>Inventari amb límit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1546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8 objectes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FB08A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52958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E6DF"/>
                </a:solidFill>
                <a:latin typeface="Segoe UI"/>
              </a:rPr>
              <a:t>Mínim 6 objectes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7764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n'hi ha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96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FB08A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15137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E6DF"/>
                </a:solidFill>
                <a:latin typeface="Segoe UI"/>
              </a:rPr>
              <a:t>Un personatge amb qui parlar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39826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dos: Bernat i Tomeu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9145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FB08A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773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E6DF"/>
                </a:solidFill>
                <a:latin typeface="Segoe UI"/>
              </a:rPr>
              <a:t>Final assolible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502005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quatre finals diferents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1324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FB08A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394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E6DF"/>
                </a:solidFill>
                <a:latin typeface="Segoe UI"/>
              </a:rPr>
              <a:t>Gestió d'errors amb excepcions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56418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jerarquia pròpia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27632"/>
            <a:ext cx="5239512" cy="192024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E8A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0" y="190195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E8A456"/>
                </a:solidFill>
                <a:latin typeface="Segoe UI"/>
              </a:rPr>
              <a:t>LA FRASE QUE HO CONDICIONA TOT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28600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9E6DF"/>
                </a:solidFill>
                <a:latin typeface="Georgia"/>
              </a:rPr>
              <a:t>«el joc ha d'entendre
els següents texts»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785615"/>
            <a:ext cx="5239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8FB08A"/>
                </a:solidFill>
                <a:latin typeface="Segoe UI"/>
              </a:rPr>
              <a:t>LA CONSEQÜÈNCIA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696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169663"/>
            <a:ext cx="49469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9E6DF"/>
                </a:solidFill>
                <a:latin typeface="Segoe UI"/>
              </a:rPr>
              <a:t>No botons: textos. El joc porta un analitzador d'ordres propi.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8280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828031"/>
            <a:ext cx="49469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9E6DF"/>
                </a:solidFill>
                <a:latin typeface="Segoe UI"/>
              </a:rPr>
              <a:t>Els botons i els dibuixos no són un camí alternatiu: escriuen la mateixa ordre.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486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5486400"/>
            <a:ext cx="494690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9E6DF"/>
                </a:solidFill>
                <a:latin typeface="Segoe UI"/>
              </a:rPr>
              <a:t>Són una drecera, no un motor diferent.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1:30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El mapa · deu zones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0" y="1783080"/>
            <a:ext cx="0" cy="795528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2578608"/>
            <a:ext cx="0" cy="795528"/>
          </a:xfrm>
          <a:prstGeom prst="line">
            <a:avLst/>
          </a:prstGeom>
          <a:ln w="25400">
            <a:solidFill>
              <a:srgbClr val="E8A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3374136"/>
            <a:ext cx="0" cy="795527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65960" y="4169663"/>
            <a:ext cx="352044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4169663"/>
            <a:ext cx="3520440" cy="0"/>
          </a:xfrm>
          <a:prstGeom prst="line">
            <a:avLst/>
          </a:prstGeom>
          <a:ln w="25400">
            <a:solidFill>
              <a:srgbClr val="E8A45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4169663"/>
            <a:ext cx="0" cy="795529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4965192"/>
            <a:ext cx="352044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006840" y="4169663"/>
            <a:ext cx="0" cy="795529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4965192"/>
            <a:ext cx="0" cy="795528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5760720"/>
            <a:ext cx="0" cy="667512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965960" y="1783080"/>
            <a:ext cx="2491740" cy="0"/>
          </a:xfrm>
          <a:prstGeom prst="line">
            <a:avLst/>
          </a:prstGeom>
          <a:ln w="15875">
            <a:solidFill>
              <a:srgbClr val="9A9EA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65960" y="1783080"/>
            <a:ext cx="0" cy="2084831"/>
          </a:xfrm>
          <a:prstGeom prst="line">
            <a:avLst/>
          </a:prstGeom>
          <a:ln w="15875">
            <a:solidFill>
              <a:srgbClr val="9A9EAE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65960" y="4471416"/>
            <a:ext cx="0" cy="1289304"/>
          </a:xfrm>
          <a:prstGeom prst="line">
            <a:avLst/>
          </a:prstGeom>
          <a:ln w="19050">
            <a:solidFill>
              <a:srgbClr val="8FB08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65960" y="5760720"/>
            <a:ext cx="2491740" cy="0"/>
          </a:xfrm>
          <a:prstGeom prst="line">
            <a:avLst/>
          </a:prstGeom>
          <a:ln w="19050">
            <a:solidFill>
              <a:srgbClr val="8FB08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57700" y="1481328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Ermita Abandonada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en Tomeu, l'ermità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7700" y="2276856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Cim del Puig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7700" y="3072384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Pont Penjant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59" y="3867911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Refugi Amagat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el cofre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7700" y="3867911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Cova Fosca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fosca: cal llum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8140" y="3867911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Cascada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7700" y="4663440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Clariana de les Flors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8140" y="4663440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El Riu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7700" y="5458968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Corriol del Bosc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57700" y="6126480"/>
            <a:ext cx="2057400" cy="603504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E8A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8A456"/>
                </a:solidFill>
                <a:latin typeface="Segoe UI"/>
              </a:rPr>
              <a:t>Camp Base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aquí marxa el bus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8" y="287578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8A456"/>
                </a:solidFill>
                <a:latin typeface="Segoe UI"/>
              </a:rPr>
              <a:t>cal la corda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0779" y="384962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8A456"/>
                </a:solidFill>
                <a:latin typeface="Segoe UI"/>
              </a:rPr>
              <a:t>cal la llanterna encesa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287578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EAE"/>
                </a:solidFill>
                <a:latin typeface="Segoe UI"/>
              </a:rPr>
              <a:t>només baixant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8860" y="545896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FB08A"/>
                </a:solidFill>
                <a:latin typeface="Segoe UI"/>
              </a:rPr>
              <a:t>s'obre amb el mapa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1627632"/>
            <a:ext cx="1490472" cy="137160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195560" y="1792224"/>
            <a:ext cx="1188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spc="120">
                <a:solidFill>
                  <a:srgbClr val="8FB08A"/>
                </a:solidFill>
                <a:latin typeface="Segoe UI"/>
              </a:rPr>
              <a:t>LLEGENDA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9EAE"/>
                </a:solidFill>
                <a:latin typeface="Segoe UI"/>
              </a:rPr>
              <a:t>pas lliure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8A456"/>
                </a:solidFill>
                <a:latin typeface="Segoe UI"/>
              </a:rPr>
              <a:t>condicionat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A9EAE"/>
                </a:solidFill>
                <a:latin typeface="Segoe UI"/>
              </a:rPr>
              <a:t>només un sentit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B08A"/>
                </a:solidFill>
                <a:latin typeface="Segoe UI"/>
              </a:rPr>
              <a:t>drecera oculta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4:45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Arquitectura · 36 classes, 4 paquets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91640"/>
            <a:ext cx="2615184" cy="324612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8A456"/>
                </a:solidFill>
                <a:latin typeface="Georgia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E6DF"/>
                </a:solidFill>
                <a:latin typeface="Consola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EAE"/>
                </a:solidFill>
                <a:latin typeface="Segoe UI"/>
              </a:rPr>
              <a:t>L'estat del món.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" y="3364992"/>
            <a:ext cx="2066544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3520440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9E6DF"/>
                </a:solidFill>
                <a:latin typeface="Consolas"/>
              </a:rPr>
              <a:t>Zona · Element · Inventari
Rellotge · MapaJoc · Jugador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691640"/>
            <a:ext cx="2615184" cy="324612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E8A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13048" y="19385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8A456"/>
                </a:solidFill>
                <a:latin typeface="Georgia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48716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E6DF"/>
                </a:solidFill>
                <a:latin typeface="Consola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8529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EAE"/>
                </a:solidFill>
                <a:latin typeface="Segoe UI"/>
              </a:rPr>
              <a:t>Executa les ordres.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3048" y="3364992"/>
            <a:ext cx="2066544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13048" y="3520440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9E6DF"/>
                </a:solidFill>
                <a:latin typeface="Consolas"/>
              </a:rPr>
              <a:t>Joc · MotorDeJoc
AnalitzadorOrdres · Verb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1691640"/>
            <a:ext cx="2615184" cy="324612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65976" y="19385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8A456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248716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E6DF"/>
                </a:solidFill>
                <a:latin typeface="Consolas"/>
              </a:rPr>
              <a:t>vista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28529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EAE"/>
                </a:solidFill>
                <a:latin typeface="Segoe UI"/>
              </a:rPr>
              <a:t>Ho ensenya.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65976" y="3364992"/>
            <a:ext cx="2066543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65976" y="3520440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9E6DF"/>
                </a:solidFill>
                <a:latin typeface="Consolas"/>
              </a:rPr>
              <a:t>Vista (interfície)
VistaGrafica · VistaConsola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44584" y="1691640"/>
            <a:ext cx="2615184" cy="324612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18904" y="19385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8A456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4" y="248716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E6DF"/>
                </a:solidFill>
                <a:latin typeface="Consolas"/>
              </a:rPr>
              <a:t>excepcions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8904" y="2852928"/>
            <a:ext cx="20665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9EAE"/>
                </a:solidFill>
                <a:latin typeface="Segoe UI"/>
              </a:rPr>
              <a:t>Els errors propis.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18904" y="3364992"/>
            <a:ext cx="2066543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18904" y="3520440"/>
            <a:ext cx="206654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9E6DF"/>
                </a:solidFill>
                <a:latin typeface="Consolas"/>
              </a:rPr>
              <a:t>JocException
+ quatre filles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38928"/>
            <a:ext cx="10817352" cy="96012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8F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1560" y="5340096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La vista és una interfície, no una classe. El mateix joc funciona per consola i amb finestra: canviant una línia del Main. El model no sap que existeix una finestra.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5:05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Decisió 1 · la jerarquia d'elements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71800" y="1499616"/>
            <a:ext cx="237744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E8A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8A456"/>
                </a:solidFill>
                <a:latin typeface="Segoe UI"/>
              </a:rPr>
              <a:t>Element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abstracta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60520" y="2157984"/>
            <a:ext cx="0" cy="329184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37360" y="2487168"/>
            <a:ext cx="484632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37360" y="2487168"/>
            <a:ext cx="0" cy="246888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60520" y="2487168"/>
            <a:ext cx="0" cy="246888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2487168"/>
            <a:ext cx="0" cy="246888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2939" y="2734056"/>
            <a:ext cx="214884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Objecte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implements Usable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86100" y="2734056"/>
            <a:ext cx="214884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Contenidor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el tronc, el cofre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9260" y="2734056"/>
            <a:ext cx="214884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Personatge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abstracta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" y="3392424"/>
            <a:ext cx="0" cy="950976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70432" y="4343400"/>
            <a:ext cx="566928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70432" y="4343400"/>
            <a:ext cx="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39" y="3968496"/>
            <a:ext cx="214884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Llanterna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implements Encenible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4626864"/>
            <a:ext cx="0" cy="539496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2939" y="5166359"/>
            <a:ext cx="214884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Camera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fa les fotos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0" y="3392424"/>
            <a:ext cx="0" cy="329184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77840" y="3721608"/>
            <a:ext cx="201168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77840" y="3721608"/>
            <a:ext cx="0" cy="246888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89520" y="3721608"/>
            <a:ext cx="0" cy="246888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63440" y="3968496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PersonatgeFix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en Bernat, en Tomeu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968496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9E6DF"/>
                </a:solidFill>
                <a:latin typeface="Segoe UI"/>
              </a:rPr>
              <a:t>PersonatgeMobil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el senglar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1691640"/>
            <a:ext cx="2587752" cy="356616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8F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9720" y="1938528"/>
            <a:ext cx="2057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50" b="1" spc="140">
                <a:solidFill>
                  <a:srgbClr val="8FB08A"/>
                </a:solidFill>
                <a:latin typeface="Segoe UI"/>
              </a:rPr>
              <a:t>PER QUÈ INTERFÍCIES?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E9E6DF"/>
                </a:solidFill>
                <a:latin typeface="Segoe UI"/>
              </a:rPr>
              <a:t>Una llanterna ja és un Objecte i Java no deixa heretar dues vegades.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>
                <a:solidFill>
                  <a:srgbClr val="E9E6DF"/>
                </a:solidFill>
                <a:latin typeface="Segoe UI"/>
              </a:rPr>
              <a:t>Encenible i Usable són comportaments, no tipus de cosa. És el cas típic on calen interfícies.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8A456"/>
                </a:solidFill>
                <a:latin typeface="Segoe UI"/>
              </a:rPr>
              <a:t>Gràcies a això el motor no pregunta de quin tipus és cada element: li demana que reaccioni.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5:55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Decisió 2 · una sola porta d'entrada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91640"/>
            <a:ext cx="6492240" cy="2743200"/>
          </a:xfrm>
          <a:prstGeom prst="roundRect">
            <a:avLst>
              <a:gd name="adj" fmla="val 3500"/>
            </a:avLst>
          </a:prstGeom>
          <a:solidFill>
            <a:srgbClr val="2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943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FB08A"/>
                </a:solidFill>
                <a:latin typeface="Consolas"/>
              </a:rPr>
              <a:t>// un boto per cada sortida visible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for (Connexio c : z.getConnexions()) {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    if (!c.esVisible()) continue;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    JButton b = new BotoPla(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        fletxa(c.getDireccio()) + c.getDesti().getNom());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    b.addActionListener(e -&gt;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8A456"/>
                </a:solidFill>
                <a:latin typeface="Consolas"/>
              </a:rPr>
              <a:t>        enviar("ANAR " + c.getDireccio()));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6492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Els botons de sortida no estan escrits a mà: es generen recorrent les connexions visibles de la zona, amb la fletxa segons la direcció. Si canvio el mapa, els botons canvien sols.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91640"/>
            <a:ext cx="4005072" cy="438912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E8A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8120" y="193852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E8A456"/>
                </a:solidFill>
                <a:latin typeface="Segoe UI"/>
              </a:rPr>
              <a:t>TOT ENTRA PER UN SOL LLOC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377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EAE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2377440"/>
            <a:ext cx="3136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Segoe UI"/>
              </a:rPr>
              <a:t>el camp de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249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EAE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2724912"/>
            <a:ext cx="3136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Segoe UI"/>
              </a:rPr>
              <a:t>els botons de dalt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072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EAE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3072384"/>
            <a:ext cx="3136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Segoe UI"/>
              </a:rPr>
              <a:t>els botons de sortida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19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EAE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3419856"/>
            <a:ext cx="3136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Segoe UI"/>
              </a:rPr>
              <a:t>el menú dels dibuixos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3840480"/>
            <a:ext cx="3383280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4041648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8A456"/>
                </a:solidFill>
                <a:latin typeface="Consolas"/>
              </a:rPr>
              <a:t>enviar(String)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E9E6DF"/>
                </a:solidFill>
                <a:latin typeface="Segoe UI"/>
              </a:rPr>
              <a:t>Tot es converteix en text i passa pel mateix analitzador.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Segoe UI"/>
              </a:rPr>
              <a:t>I els verbs són un enum: el switch del motor treballa sobre casos tancats, no sobre textos solts.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6:35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Decisió 3 · excepcions pròpies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600200"/>
            <a:ext cx="4206240" cy="731520"/>
          </a:xfrm>
          <a:prstGeom prst="roundRect">
            <a:avLst>
              <a:gd name="adj" fmla="val 12000"/>
            </a:avLst>
          </a:prstGeom>
          <a:solidFill>
            <a:srgbClr val="2B2E3A"/>
          </a:solidFill>
          <a:ln w="12700">
            <a:solidFill>
              <a:srgbClr val="E8A4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E8A456"/>
                </a:solidFill>
                <a:latin typeface="Segoe UI"/>
              </a:rPr>
              <a:t>JocException</a:t>
            </a:r>
          </a:p>
          <a:p>
            <a:pPr algn="ctr"/>
            <a:r>
              <a:rPr sz="850">
                <a:solidFill>
                  <a:srgbClr val="9A9EAE"/>
                </a:solidFill>
                <a:latin typeface="Segoe UI"/>
              </a:rPr>
              <a:t>abstracta · extends Exception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331720"/>
            <a:ext cx="0" cy="36576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17320" y="2697480"/>
            <a:ext cx="0" cy="310896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3063240"/>
            <a:ext cx="36576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74519" y="28895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E6DF"/>
                </a:solidFill>
                <a:latin typeface="Consolas"/>
              </a:rPr>
              <a:t>OrdreInvalidaException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108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no entenc l'ordre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3776472"/>
            <a:ext cx="36576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74519" y="360273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E6DF"/>
                </a:solidFill>
                <a:latin typeface="Consolas"/>
              </a:rPr>
              <a:t>ObjecteNoTrobatException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822191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aquí no hi ha això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4489704"/>
            <a:ext cx="36576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74519" y="43159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E6DF"/>
                </a:solidFill>
                <a:latin typeface="Consolas"/>
              </a:rPr>
              <a:t>AccioNoPermesaException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5354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això no es pot fer ara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5202936"/>
            <a:ext cx="36576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74519" y="502919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E6DF"/>
                </a:solidFill>
                <a:latin typeface="Consolas"/>
              </a:rPr>
              <a:t>RecursNoTrobatException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248655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9EAE"/>
                </a:solidFill>
                <a:latin typeface="Segoe UI"/>
              </a:rPr>
              <a:t>falta una imatge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2697480"/>
            <a:ext cx="1600200" cy="0"/>
          </a:xfrm>
          <a:prstGeom prst="line">
            <a:avLst/>
          </a:prstGeom>
          <a:ln w="15875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72200" y="1691640"/>
            <a:ext cx="5330952" cy="2148840"/>
          </a:xfrm>
          <a:prstGeom prst="roundRect">
            <a:avLst>
              <a:gd name="adj" fmla="val 3500"/>
            </a:avLst>
          </a:prstGeom>
          <a:solidFill>
            <a:srgbClr val="2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46520" y="1920240"/>
            <a:ext cx="4800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super("Element inexistent: " + nom,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8A456"/>
                </a:solidFill>
                <a:latin typeface="Consolas"/>
              </a:rPr>
              <a:t>      "Aqui no veig cap " + nom + ".");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EAE"/>
                </a:solidFill>
                <a:latin typeface="Consolas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FB08A"/>
                </a:solidFill>
                <a:latin typeface="Consolas"/>
              </a:rPr>
              <a:t>// el primer per depurar, el segon per al jugador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023360"/>
            <a:ext cx="5330952" cy="2075688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8FB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92240" y="4279392"/>
            <a:ext cx="4709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50" b="1" spc="140">
                <a:solidFill>
                  <a:srgbClr val="8FB08A"/>
                </a:solidFill>
                <a:latin typeface="Segoe UI"/>
              </a:rPr>
              <a:t>UN SOL CATCH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Com que totes hereten de JocException, el bucle de la partida les caça totes amb un sol catch i ensenya el missatge del jugador.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8A456"/>
                </a:solidFill>
                <a:latin typeface="Segoe UI"/>
              </a:rPr>
              <a:t>Una ordre errònia no fa avançar el rellotge: equivocar-se no et costa temps de joc.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2:30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Demostració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78308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9E6DF"/>
                </a:solidFill>
                <a:latin typeface="Georgia"/>
              </a:rPr>
              <a:t>Ara passo al joc.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17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5193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Agafar objectes i veure'ls desaparèixer del dibuix.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5193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Obrir un contenidor: el tronc amb la llanterna a dins.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1513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51376"/>
            <a:ext cx="5193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Encendre la llanterna, que té pila i es gasta.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7183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18304"/>
            <a:ext cx="5193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Combinar dos objectes: el bastó i el pomer.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28523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1"/>
            <a:ext cx="5193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La Cova Fosca sense llum.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691640"/>
            <a:ext cx="4782312" cy="4407408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3C4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0" y="193852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8FB08A"/>
                </a:solidFill>
                <a:latin typeface="Segoe UI"/>
              </a:rPr>
              <a:t>LA SEQÜÈNCIA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40864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agafar cantimplora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4718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nord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5351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agafar basto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25983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usar el basto amb el pomer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56616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agafar poma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872484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nord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17880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obrir tronc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485132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agafar llanterna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9145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encendre llanterna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09778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9E6DF"/>
                </a:solidFill>
                <a:latin typeface="Consolas"/>
              </a:rPr>
              <a:t>nord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40880" y="5468112"/>
            <a:ext cx="4142232" cy="0"/>
          </a:xfrm>
          <a:prstGeom prst="line">
            <a:avLst/>
          </a:prstGeom>
          <a:ln w="15875">
            <a:solidFill>
              <a:srgbClr val="EF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40880" y="559612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F6F5C"/>
                </a:solidFill>
                <a:latin typeface="Consolas"/>
              </a:rPr>
              <a:t>si avisa el senglar →  usar la poma amb el senglar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7:30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9E6DF"/>
                </a:solidFill>
                <a:latin typeface="Georgia"/>
              </a:rPr>
              <a:t>Com s'ha treballat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80"/>
            <a:ext cx="10817352" cy="0"/>
          </a:xfrm>
          <a:prstGeom prst="line">
            <a:avLst/>
          </a:prstGeom>
          <a:ln w="12700">
            <a:solidFill>
              <a:srgbClr val="3C4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91640"/>
            <a:ext cx="5120640" cy="4407408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938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8FB08A"/>
                </a:solidFill>
                <a:latin typeface="Segoe UI"/>
              </a:rPr>
              <a:t>UN COMMIT PER CAPA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456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5000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excepcions i vocabulari del joc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456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9864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model: zones, mapa, elements, jugador i rellotge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456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4728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analitzador d'ordres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456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9592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motor del joc i bucle de partida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456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44568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vista de consola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20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A456"/>
                </a:solidFill>
                <a:latin typeface="Consola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93207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9E6DF"/>
                </a:solidFill>
                <a:latin typeface="Consolas"/>
              </a:rPr>
              <a:t>vista grafica, imatges de les zones i documentacio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509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9EAE"/>
                </a:solidFill>
                <a:latin typeface="Segoe UI"/>
              </a:rPr>
              <a:t>Cada commit compila sol. El punt d'entrada és l'últim que té sentit escriure.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5330952" cy="2697480"/>
          </a:xfrm>
          <a:prstGeom prst="roundRect">
            <a:avLst>
              <a:gd name="adj" fmla="val 3500"/>
            </a:avLst>
          </a:prstGeom>
          <a:solidFill>
            <a:srgbClr val="22242E"/>
          </a:solidFill>
          <a:ln w="12700">
            <a:solidFill>
              <a:srgbClr val="E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0" y="193852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EF6F5C"/>
                </a:solidFill>
                <a:latin typeface="Segoe UI"/>
              </a:rPr>
              <a:t>EL QUE VA TROBAR EL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40864"/>
            <a:ext cx="47091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E9E6DF"/>
                </a:solidFill>
                <a:latin typeface="Segoe UI"/>
              </a:rPr>
              <a:t>Un script juga partides senceres sol. Executant-ne vint vaig descobrir que el joc es podia guanyar en setze ordres.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E8A456"/>
                </a:solidFill>
                <a:latin typeface="Segoe UI"/>
              </a:rPr>
              <a:t>Saltant-se la llanterna, la navalla, el cofre, la corda i el pont: hi havia un camí que no havia previst. El vaig tancar.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72000"/>
            <a:ext cx="5330952" cy="1527048"/>
          </a:xfrm>
          <a:prstGeom prst="roundRect">
            <a:avLst>
              <a:gd name="adj" fmla="val 3500"/>
            </a:avLst>
          </a:prstGeom>
          <a:solidFill>
            <a:srgbClr val="2B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55080" y="4809744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FB08A"/>
                </a:solidFill>
                <a:latin typeface="Georgia"/>
              </a:rPr>
              <a:t>20/20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3218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EAE"/>
                </a:solidFill>
                <a:latin typeface="Segoe UI"/>
              </a:rPr>
              <a:t>recorregut 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4809744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FB08A"/>
                </a:solidFill>
                <a:latin typeface="Georgia"/>
              </a:rPr>
              <a:t>0/20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53218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EAE"/>
                </a:solidFill>
                <a:latin typeface="Segoe UI"/>
              </a:rPr>
              <a:t>la drecera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4809744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FB08A"/>
                </a:solidFill>
                <a:latin typeface="Georgia"/>
              </a:rPr>
              <a:t>60/60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53218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EAE"/>
                </a:solidFill>
                <a:latin typeface="Segoe UI"/>
              </a:rPr>
              <a:t>reacciona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nca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2801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60">
                <a:solidFill>
                  <a:srgbClr val="8FB08A"/>
                </a:solidFill>
                <a:latin typeface="Segoe UI"/>
              </a:rPr>
              <a:t>8:15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9E6DF"/>
                </a:solidFill>
                <a:latin typeface="Georgia"/>
              </a:rPr>
              <a:t>Què hi ha i què falta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8FB08A"/>
                </a:solidFill>
                <a:latin typeface="Segoe UI"/>
              </a:rPr>
              <a:t>FET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FB08A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971800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Quatre finals diferents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FB08A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447288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Es pot tornar a jugar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227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FB08A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922776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Ordres escrites, botons i dibuixos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98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FB08A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398264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Trenta il·lustracions de zona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606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E8A456"/>
                </a:solidFill>
                <a:latin typeface="Segoe UI"/>
              </a:rPr>
              <a:t>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971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971800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Galeria per a les fotos de la partida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447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447288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Diàlegs amb en Tomeu que canviïn el 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9227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A456"/>
                </a:solidFill>
                <a:latin typeface="Segoe U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922776"/>
            <a:ext cx="42793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9E6DF"/>
                </a:solidFill>
                <a:latin typeface="Segoe UI"/>
              </a:rPr>
              <a:t>Sprites també a l'inventari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9E6DF"/>
                </a:solidFill>
                <a:latin typeface="Georgia"/>
              </a:rPr>
              <a:t>Gràcies.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L'Excursio del Puig de les Bruixes</dc:title>
  <dc:creator>Paula</dc:creator>
  <cp:lastModifiedBy>Paula</cp:lastModifiedBy>
  <cp:revision>1</cp:revision>
  <dcterms:created xsi:type="dcterms:W3CDTF">2026-10-06T00:00:00Z</dcterms:created>
  <dcterms:modified xsi:type="dcterms:W3CDTF">2026-10-06T00:00:00Z</dcterms:modified>
</cp:coreProperties>
</file>